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 w="12700">
            <a:solidFill>
              <a:srgbClr val="FAF9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6537960"/>
            <a:ext cx="11494008" cy="0"/>
          </a:xfrm>
          <a:prstGeom prst="line">
            <a:avLst/>
          </a:prstGeom>
          <a:noFill/>
          <a:ln w="6350">
            <a:solidFill>
              <a:srgbClr val="E7E5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VISUAL EXPLAINER · 2026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 NON'S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VIBECODING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66928" y="227685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SYSTEM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03504" y="312724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How one person + AI agents ship, verify, run, design, and remember real software.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0" y="1078992"/>
            <a:ext cx="0" cy="4343400"/>
          </a:xfrm>
          <a:prstGeom prst="line">
            <a:avLst/>
          </a:prstGeom>
          <a:noFill/>
          <a:ln w="15240">
            <a:solidFill>
              <a:srgbClr val="D2CF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078992"/>
            <a:ext cx="4434840" cy="0"/>
          </a:xfrm>
          <a:prstGeom prst="line">
            <a:avLst/>
          </a:prstGeom>
          <a:noFill/>
          <a:ln w="15240">
            <a:solidFill>
              <a:srgbClr val="D2CF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2121408"/>
            <a:ext cx="3611880" cy="0"/>
          </a:xfrm>
          <a:prstGeom prst="line">
            <a:avLst/>
          </a:prstGeom>
          <a:noFill/>
          <a:ln w="15240">
            <a:solidFill>
              <a:srgbClr val="D2CF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3163824"/>
            <a:ext cx="4251960" cy="0"/>
          </a:xfrm>
          <a:prstGeom prst="line">
            <a:avLst/>
          </a:prstGeom>
          <a:noFill/>
          <a:ln w="15240">
            <a:solidFill>
              <a:srgbClr val="D2CF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4206240"/>
            <a:ext cx="3520440" cy="0"/>
          </a:xfrm>
          <a:prstGeom prst="line">
            <a:avLst/>
          </a:prstGeom>
          <a:noFill/>
          <a:ln w="15240">
            <a:solidFill>
              <a:srgbClr val="D2CF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5248656"/>
            <a:ext cx="4434840" cy="0"/>
          </a:xfrm>
          <a:prstGeom prst="line">
            <a:avLst/>
          </a:prstGeom>
          <a:noFill/>
          <a:ln w="15240">
            <a:solidFill>
              <a:srgbClr val="D2CF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932688"/>
            <a:ext cx="292608" cy="292608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932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84848" y="9235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MEMORY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784848" y="10881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start already knowing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6400800" y="1975104"/>
            <a:ext cx="292608" cy="292608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84848" y="19659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784848" y="21305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taste as rules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6400800" y="3017520"/>
            <a:ext cx="292608" cy="292608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30083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SHIP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84848" y="317296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 proof, not localhost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6400800" y="4059936"/>
            <a:ext cx="292608" cy="292608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84848" y="40507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INFRA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784848" y="42153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services that survive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400800" y="5102352"/>
            <a:ext cx="292608" cy="292608"/>
          </a:xfrm>
          <a:prstGeom prst="ellipse">
            <a:avLst/>
          </a:prstGeom>
          <a:solidFill>
            <a:srgbClr val="B933AD"/>
          </a:solidFill>
          <a:ln w="12700">
            <a:solidFill>
              <a:srgbClr val="B933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84848" y="509320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RISK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784848" y="52578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fast where undo is cheap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9235440" y="5779008"/>
            <a:ext cx="1993392" cy="228600"/>
          </a:xfrm>
          <a:prstGeom prst="rect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08592" y="5779008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19 INFOGRAPHIC PAGES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Sources: Nonarkara/dr-non-vibecoding-skills + Nonarkara/Rams-NYCTA-Design-Core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SYSTEM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repo is a working operating system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 artifact types → 14 skills → one agent practice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1917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98448"/>
            <a:ext cx="2084832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2646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SKILLS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039A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14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216152" y="16824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daily reference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44368" y="1298448"/>
            <a:ext cx="2084832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142646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PLAYBOOKS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081528" y="16459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631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657600" y="16824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reasoning + stories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85816" y="1298448"/>
            <a:ext cx="2084832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142646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REFERENCE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522976" y="16459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6D6E7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6099048" y="16824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APIs · security · commits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27264" y="1298448"/>
            <a:ext cx="2084832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64424" y="142646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TEMPLATES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7964424" y="16459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0853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540496" y="16824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drop-in deploy + service files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040112" y="1810512"/>
            <a:ext cx="749808" cy="0"/>
          </a:xfrm>
          <a:prstGeom prst="line">
            <a:avLst/>
          </a:prstGeom>
          <a:noFill/>
          <a:ln w="15240">
            <a:solidFill>
              <a:srgbClr val="6F6C6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817352" y="1280160"/>
            <a:ext cx="841248" cy="1060704"/>
          </a:xfrm>
          <a:prstGeom prst="rect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72216" y="15179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AF9F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881360" y="1773936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FAF9F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behaves like</a:t>
            </a:r>
            <a:endParaRPr lang="en-US" sz="7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FAF9F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 has worked</a:t>
            </a:r>
            <a:endParaRPr lang="en-US" sz="7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FAF9F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with you for months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502920" y="27614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FULL STACK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502920" y="3017520"/>
            <a:ext cx="7360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017520"/>
            <a:ext cx="1463040" cy="228600"/>
          </a:xfrm>
          <a:prstGeom prst="rect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301752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FRONT END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139696" y="3017520"/>
            <a:ext cx="5440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axiom-design-core · design-dna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3575304"/>
            <a:ext cx="7360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3575304"/>
            <a:ext cx="1463040" cy="228600"/>
          </a:xfrm>
          <a:prstGeom prst="rect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357530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APPLICATION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139696" y="3575304"/>
            <a:ext cx="5440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karpathy-guidelines · golden-rules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4133088"/>
            <a:ext cx="7360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4133088"/>
            <a:ext cx="1463040" cy="228600"/>
          </a:xfrm>
          <a:prstGeom prst="rect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" y="413308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139696" y="4133088"/>
            <a:ext cx="5440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data-catalog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4690872"/>
            <a:ext cx="7360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4690872"/>
            <a:ext cx="1463040" cy="228600"/>
          </a:xfrm>
          <a:prstGeom prst="rect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469087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SHIP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139696" y="4690872"/>
            <a:ext cx="5440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ship-discipline · deploy-verification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5248656"/>
            <a:ext cx="7360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5248656"/>
            <a:ext cx="1463040" cy="228600"/>
          </a:xfrm>
          <a:prstGeom prst="rect">
            <a:avLst/>
          </a:prstGeom>
          <a:solidFill>
            <a:srgbClr val="996633"/>
          </a:solidFill>
          <a:ln w="12700">
            <a:solidFill>
              <a:srgbClr val="9966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" y="5248656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INFRA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139696" y="5248656"/>
            <a:ext cx="5440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always-on-services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147304" y="3017520"/>
            <a:ext cx="3511296" cy="2670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39328" y="32186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WRAPS EVERY LAYER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8339328" y="3575304"/>
            <a:ext cx="292608" cy="292608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39328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723376" y="35661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AGENT MEMORY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8723376" y="37307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context survives sessions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8339328" y="4270248"/>
            <a:ext cx="292608" cy="292608"/>
          </a:xfrm>
          <a:prstGeom prst="ellipse">
            <a:avLst/>
          </a:prstGeom>
          <a:solidFill>
            <a:srgbClr val="B933AD"/>
          </a:solidFill>
          <a:ln w="12700">
            <a:solidFill>
              <a:srgbClr val="B933A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39328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723376" y="426110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RISK POSTURE</a:t>
            </a:r>
            <a:endParaRPr lang="en-US" sz="920" dirty="0"/>
          </a:p>
        </p:txBody>
      </p:sp>
      <p:sp>
        <p:nvSpPr>
          <p:cNvPr id="58" name="Text 56"/>
          <p:cNvSpPr/>
          <p:nvPr/>
        </p:nvSpPr>
        <p:spPr>
          <a:xfrm>
            <a:off x="8723376" y="442569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speed calibrated to blast radius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8339328" y="4965192"/>
            <a:ext cx="292608" cy="292608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39328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723376" y="495604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BOOTSTRAP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8723376" y="51206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 the scaffold in one pass</a:t>
            </a:r>
            <a:endParaRPr lang="en-US" sz="760" dirty="0"/>
          </a:p>
        </p:txBody>
      </p:sp>
      <p:sp>
        <p:nvSpPr>
          <p:cNvPr id="63" name="Text 61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README.md — repository structure and full-stack skill map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OPERATING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actual daily loop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coherent intention → live ship → written lesson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FF63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4358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PASS · 60–180 MINUTES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30352" y="1591056"/>
            <a:ext cx="1755648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37360"/>
            <a:ext cx="310896" cy="310896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13969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READ MEMORY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658368" y="243230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CLAUDE.md + lessons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2286000" y="2249424"/>
            <a:ext cx="118872" cy="0"/>
          </a:xfrm>
          <a:prstGeom prst="line">
            <a:avLst/>
          </a:prstGeom>
          <a:noFill/>
          <a:ln w="10160">
            <a:solidFill>
              <a:srgbClr val="A9A59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04872" y="1591056"/>
            <a:ext cx="1755648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2888" y="1737360"/>
            <a:ext cx="310896" cy="310896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2888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32888" y="213969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NAME INTENT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2532888" y="243230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outcome + reader + constraints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4160520" y="2249424"/>
            <a:ext cx="118872" cy="0"/>
          </a:xfrm>
          <a:prstGeom prst="line">
            <a:avLst/>
          </a:prstGeom>
          <a:noFill/>
          <a:ln w="10160">
            <a:solidFill>
              <a:srgbClr val="A9A59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279392" y="1591056"/>
            <a:ext cx="1755648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7408" y="1737360"/>
            <a:ext cx="310896" cy="310896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07408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07408" y="213969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AGENT BUILDS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4407408" y="243230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typing · recall · patience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6035040" y="2249424"/>
            <a:ext cx="118872" cy="0"/>
          </a:xfrm>
          <a:prstGeom prst="line">
            <a:avLst/>
          </a:prstGeom>
          <a:noFill/>
          <a:ln w="10160">
            <a:solidFill>
              <a:srgbClr val="A9A59A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53912" y="1591056"/>
            <a:ext cx="1755648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81928" y="1737360"/>
            <a:ext cx="310896" cy="310896"/>
          </a:xfrm>
          <a:prstGeom prst="ellipse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Δ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81928" y="213969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READ THE DIFF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6281928" y="243230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not the summary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7909560" y="2249424"/>
            <a:ext cx="118872" cy="0"/>
          </a:xfrm>
          <a:prstGeom prst="line">
            <a:avLst/>
          </a:prstGeom>
          <a:noFill/>
          <a:ln w="10160">
            <a:solidFill>
              <a:srgbClr val="A9A59A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28432" y="1591056"/>
            <a:ext cx="1755648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6448" y="1737360"/>
            <a:ext cx="310896" cy="310896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56448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56448" y="213969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CPDT</a:t>
            </a:r>
            <a:endParaRPr lang="en-US" sz="970" dirty="0"/>
          </a:p>
        </p:txBody>
      </p:sp>
      <p:sp>
        <p:nvSpPr>
          <p:cNvPr id="37" name="Text 35"/>
          <p:cNvSpPr/>
          <p:nvPr/>
        </p:nvSpPr>
        <p:spPr>
          <a:xfrm>
            <a:off x="8156448" y="243230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commit · push · deploy · test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9784080" y="2249424"/>
            <a:ext cx="118872" cy="0"/>
          </a:xfrm>
          <a:prstGeom prst="line">
            <a:avLst/>
          </a:prstGeom>
          <a:noFill/>
          <a:ln w="10160">
            <a:solidFill>
              <a:srgbClr val="A9A59A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902952" y="1591056"/>
            <a:ext cx="1755648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30968" y="1737360"/>
            <a:ext cx="310896" cy="310896"/>
          </a:xfrm>
          <a:prstGeom prst="ellipse">
            <a:avLst/>
          </a:prstGeom>
          <a:solidFill>
            <a:srgbClr val="B933AD"/>
          </a:solidFill>
          <a:ln w="12700">
            <a:solidFill>
              <a:srgbClr val="B933A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30968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030968" y="213969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WRITE LESSON</a:t>
            </a:r>
            <a:endParaRPr lang="en-US" sz="970" dirty="0"/>
          </a:p>
        </p:txBody>
      </p:sp>
      <p:sp>
        <p:nvSpPr>
          <p:cNvPr id="43" name="Text 41"/>
          <p:cNvSpPr/>
          <p:nvPr/>
        </p:nvSpPr>
        <p:spPr>
          <a:xfrm>
            <a:off x="10030968" y="243230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promote hard-won knowledge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502920" y="33375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DIVISION OF LABOUR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502920" y="3639312"/>
            <a:ext cx="5449824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3639312"/>
            <a:ext cx="1307592" cy="228600"/>
          </a:xfrm>
          <a:prstGeom prst="rect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" y="3639312"/>
            <a:ext cx="1161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HUMAN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31520" y="40873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Taste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847088" y="40873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Frame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962656" y="40873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Done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4078224" y="40873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Kill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31520" y="44714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should exist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1847088" y="44714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problem counts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2962656" y="44714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 + useful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4078224" y="44714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sunk cost override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6217920" y="3639312"/>
            <a:ext cx="544068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3639312"/>
            <a:ext cx="1307592" cy="228600"/>
          </a:xfrm>
          <a:prstGeom prst="rect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91072" y="3639312"/>
            <a:ext cx="1161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AGENT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473952" y="40873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Typing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882128" y="40873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Recall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9290304" y="40873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Patience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6473952" y="44714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boilerplate + sweeps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7882128" y="44714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everything written down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9290304" y="44714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repeat until verified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502920" y="5907024"/>
            <a:ext cx="0" cy="347472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2648" y="5907024"/>
            <a:ext cx="5376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Speed is not typing faster. It is fewer decisions being re-made.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playbooks/01-how-i-actually-code.md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OPERATING 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Fourteen rules, five operating laws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transit map for the decision system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FF63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71600"/>
            <a:ext cx="2103120" cy="446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371600"/>
            <a:ext cx="2103120" cy="228600"/>
          </a:xfrm>
          <a:prstGeom prst="rect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7160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THINK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41248" y="1920240"/>
            <a:ext cx="0" cy="3310128"/>
          </a:xfrm>
          <a:prstGeom prst="line">
            <a:avLst/>
          </a:prstGeom>
          <a:noFill/>
          <a:ln w="27940">
            <a:solidFill>
              <a:srgbClr val="0039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901952"/>
            <a:ext cx="228600" cy="228600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901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60704" y="18836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Think — not too long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525012"/>
            <a:ext cx="228600" cy="228600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250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060704" y="35067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&gt; opinion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5148072"/>
            <a:ext cx="228600" cy="228600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148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60704" y="512978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 users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70632" y="1371600"/>
            <a:ext cx="2103120" cy="446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70632" y="1371600"/>
            <a:ext cx="2103120" cy="228600"/>
          </a:xfrm>
          <a:prstGeom prst="rect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43784" y="137160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044952" y="1920240"/>
            <a:ext cx="0" cy="3310128"/>
          </a:xfrm>
          <a:prstGeom prst="line">
            <a:avLst/>
          </a:prstGeom>
          <a:noFill/>
          <a:ln w="27940">
            <a:solidFill>
              <a:srgbClr val="FF631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35224" y="1901952"/>
            <a:ext cx="228600" cy="228600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35224" y="1901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3264408" y="18836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Ship first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35224" y="2983992"/>
            <a:ext cx="228600" cy="228600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35224" y="2983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3264408" y="296570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 what you have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35224" y="4066032"/>
            <a:ext cx="228600" cy="228600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35224" y="40660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3264408" y="404774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Modular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35224" y="5148072"/>
            <a:ext cx="228600" cy="228600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35224" y="5148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14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3264408" y="512978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premature optimisation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74336" y="1371600"/>
            <a:ext cx="2103120" cy="446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74336" y="1371600"/>
            <a:ext cx="2103120" cy="228600"/>
          </a:xfrm>
          <a:prstGeom prst="rect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137160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OPERATE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248656" y="1920240"/>
            <a:ext cx="0" cy="3310128"/>
          </a:xfrm>
          <a:prstGeom prst="line">
            <a:avLst/>
          </a:prstGeom>
          <a:noFill/>
          <a:ln w="27940">
            <a:solidFill>
              <a:srgbClr val="00853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38928" y="1901952"/>
            <a:ext cx="228600" cy="228600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38928" y="1901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468112" y="18836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Incentives &gt; instructions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38928" y="3525012"/>
            <a:ext cx="228600" cy="228600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38928" y="35250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5468112" y="35067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 boring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138928" y="5148072"/>
            <a:ext cx="228600" cy="228600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38928" y="5148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12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5468112" y="512978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Test in production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178040" y="1371600"/>
            <a:ext cx="2103120" cy="446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78040" y="1371600"/>
            <a:ext cx="2103120" cy="228600"/>
          </a:xfrm>
          <a:prstGeom prst="rect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51192" y="137160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452360" y="1920240"/>
            <a:ext cx="0" cy="3310128"/>
          </a:xfrm>
          <a:prstGeom prst="line">
            <a:avLst/>
          </a:prstGeom>
          <a:noFill/>
          <a:ln w="27940">
            <a:solidFill>
              <a:srgbClr val="6D6E7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42632" y="1901952"/>
            <a:ext cx="228600" cy="228600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42632" y="1901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7671816" y="18836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Open source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42632" y="5148072"/>
            <a:ext cx="228600" cy="228600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42632" y="5148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11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7671816" y="512978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Document while building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381744" y="1371600"/>
            <a:ext cx="2103120" cy="446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81744" y="1371600"/>
            <a:ext cx="2103120" cy="228600"/>
          </a:xfrm>
          <a:prstGeom prst="rect">
            <a:avLst/>
          </a:prstGeom>
          <a:solidFill>
            <a:srgbClr val="B933AD"/>
          </a:solidFill>
          <a:ln w="12700">
            <a:solidFill>
              <a:srgbClr val="B933A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54896" y="137160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LEARN / KILL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9656064" y="1920240"/>
            <a:ext cx="0" cy="3310128"/>
          </a:xfrm>
          <a:prstGeom prst="line">
            <a:avLst/>
          </a:prstGeom>
          <a:noFill/>
          <a:ln w="27940">
            <a:solidFill>
              <a:srgbClr val="B933A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46336" y="1901952"/>
            <a:ext cx="228600" cy="228600"/>
          </a:xfrm>
          <a:prstGeom prst="ellipse">
            <a:avLst/>
          </a:prstGeom>
          <a:solidFill>
            <a:srgbClr val="B933AD"/>
          </a:solidFill>
          <a:ln w="12700">
            <a:solidFill>
              <a:srgbClr val="B933A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546336" y="1901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9875520" y="18836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Kill what fails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546336" y="5148072"/>
            <a:ext cx="228600" cy="228600"/>
          </a:xfrm>
          <a:prstGeom prst="ellipse">
            <a:avLst/>
          </a:prstGeom>
          <a:solidFill>
            <a:srgbClr val="B933AD"/>
          </a:solidFill>
          <a:ln w="12700">
            <a:solidFill>
              <a:srgbClr val="B933A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546336" y="5148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13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9875520" y="512978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Learn by doing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66928" y="6035040"/>
            <a:ext cx="10917936" cy="310896"/>
          </a:xfrm>
          <a:prstGeom prst="rect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8096" y="6035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70" kern="0" dirty="0">
                <a:solidFill>
                  <a:srgbClr val="FAF9F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GOLDEN RULE  →  THE BEST STACK IS THE ONE THAT SHIPS.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skills/dr-non-golden-rules/SKILL.md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OPERATING 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Guardrails against LLM coding drift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caution where agents are predictably overconfident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0039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08176"/>
            <a:ext cx="5468112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408176"/>
            <a:ext cx="2057400" cy="228600"/>
          </a:xfrm>
          <a:prstGeom prst="rect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08176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 · THINK BEFORE CODING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68096" y="206654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Surface assumptions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8096" y="253288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If unclear, name it. If simpler, say it.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408176"/>
            <a:ext cx="5468112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408176"/>
            <a:ext cx="2057400" cy="228600"/>
          </a:xfrm>
          <a:prstGeom prst="rect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408176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 · SIMPLICITY FIRST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364224" y="206654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Minimum code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64224" y="253288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speculative features. No abstraction for one use.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675888"/>
            <a:ext cx="5468112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675888"/>
            <a:ext cx="2057400" cy="228600"/>
          </a:xfrm>
          <a:prstGeom prst="rect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75888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 · SURGICAL CHANGES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68096" y="433425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Touch only what you must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8096" y="480060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 changed line should trace to the request.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63056" y="3675888"/>
            <a:ext cx="5468112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3675888"/>
            <a:ext cx="2057400" cy="228600"/>
          </a:xfrm>
          <a:prstGeom prst="rect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3675888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 · GOAL-DRIVEN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64224" y="433425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Define proof first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64224" y="480060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Turn “make it work” into checks you can verify.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03320" y="5870448"/>
            <a:ext cx="0" cy="329184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13048" y="5870448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agent may be fast. The diff must still be explainable.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skills/karpathy-guidelines/SKILL.md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MEMORY 05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context window resets. The project does not.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read top-down · write bottom-up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0039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1371600"/>
            <a:ext cx="8183880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559052"/>
            <a:ext cx="384048" cy="384048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5590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14904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VAULT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931920" y="1481328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Why does the whole practice work this way?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3931920" y="1728216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cross-project knowledge · agents read + write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2048256" y="2304288"/>
            <a:ext cx="8183880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2491740"/>
            <a:ext cx="384048" cy="384048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24917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24231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WORKSPACE INDEX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931920" y="2414016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Where does anything live? What is running?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3931920" y="2660904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~/Projects/CLAUDE.md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2048256" y="3236976"/>
            <a:ext cx="8183880" cy="1024128"/>
          </a:xfrm>
          <a:prstGeom prst="rect">
            <a:avLst/>
          </a:prstGeom>
          <a:solidFill>
            <a:srgbClr val="FFFFFF"/>
          </a:solidFill>
          <a:ln w="21590">
            <a:solidFill>
              <a:srgbClr val="FF631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3557016"/>
            <a:ext cx="384048" cy="384048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33558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PROJECT CONTRACT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931920" y="3346704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How do I work here without breaking it?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3931920" y="3593592"/>
            <a:ext cx="5897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anti-regression · exact commands · reverted experiments · gotchas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2048256" y="4526280"/>
            <a:ext cx="81838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5880" y="4782312"/>
            <a:ext cx="384048" cy="384048"/>
          </a:xfrm>
          <a:prstGeom prst="ellipse">
            <a:avLst/>
          </a:prstGeom>
          <a:solidFill>
            <a:srgbClr val="B933AD"/>
          </a:solidFill>
          <a:ln w="12700">
            <a:solidFill>
              <a:srgbClr val="B933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25880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0" y="46451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LESSON DOCS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3931920" y="4636008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Why is it like this? What did we already try?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3931920" y="4882896"/>
            <a:ext cx="5897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landed · what failed · honest limits · CPDT trace · one line for next agent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10652760" y="1627632"/>
            <a:ext cx="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0488168" y="13898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39A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READ ↓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844784" y="1673352"/>
            <a:ext cx="0" cy="3639312"/>
          </a:xfrm>
          <a:prstGeom prst="line">
            <a:avLst/>
          </a:prstGeom>
          <a:noFill/>
          <a:ln w="15240">
            <a:solidFill>
              <a:srgbClr val="0039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0800000">
            <a:off x="10771632" y="5266944"/>
            <a:ext cx="146304" cy="118872"/>
          </a:xfrm>
          <a:prstGeom prst="triangl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51755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B933A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↑ PROMOTE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77240" y="1901952"/>
            <a:ext cx="0" cy="3236976"/>
          </a:xfrm>
          <a:prstGeom prst="line">
            <a:avLst/>
          </a:prstGeom>
          <a:noFill/>
          <a:ln w="15240">
            <a:solidFill>
              <a:srgbClr val="B933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4088" y="1783080"/>
            <a:ext cx="146304" cy="118872"/>
          </a:xfrm>
          <a:prstGeom prst="rtTriangle">
            <a:avLst/>
          </a:prstGeom>
          <a:solidFill>
            <a:srgbClr val="B933AD"/>
          </a:solidFill>
          <a:ln w="12700">
            <a:solidFill>
              <a:srgbClr val="B933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48256" y="5760720"/>
            <a:ext cx="0" cy="365760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57984" y="5760720"/>
            <a:ext cx="6519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Write knowledge when it is fresh and hurts. That is when it is accurate.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skills/agent-memory/SKILL.md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BOOTSTRAP 06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document bootstraps the whole practice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 questions → conditional setup → a project that remembers itself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0085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435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ASK ONCE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1499616"/>
            <a:ext cx="1344168" cy="75895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591056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01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621792" y="1810512"/>
            <a:ext cx="11064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39A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STACK?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984248" y="1499616"/>
            <a:ext cx="1344168" cy="75895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591056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02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2103120" y="1810512"/>
            <a:ext cx="11064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6D6E7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/ MANY?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65576" y="1499616"/>
            <a:ext cx="1344168" cy="75895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4448" y="1591056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03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584448" y="1810512"/>
            <a:ext cx="11064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853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ALWAYS-ON?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46904" y="1499616"/>
            <a:ext cx="1344168" cy="75895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1591056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04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065776" y="1810512"/>
            <a:ext cx="11064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631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AXIOM DESIGN?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1874520"/>
            <a:ext cx="685800" cy="0"/>
          </a:xfrm>
          <a:prstGeom prst="line">
            <a:avLst/>
          </a:prstGeom>
          <a:noFill/>
          <a:ln w="13970">
            <a:solidFill>
              <a:srgbClr val="6F6C6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68896" y="1389888"/>
            <a:ext cx="4498848" cy="987552"/>
          </a:xfrm>
          <a:prstGeom prst="rect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88352" y="15727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AF9F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INFER SENSIBLE DEFAULTS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88352" y="1856232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D8D4C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 not turn ambiguity into procrastination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502920" y="27889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 IN NINE STEPS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502920" y="3108960"/>
            <a:ext cx="2542032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" y="3273552"/>
            <a:ext cx="310896" cy="310896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0704" y="32461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INSTALL SKILLS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3273552" y="3108960"/>
            <a:ext cx="2542032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01568" y="3273552"/>
            <a:ext cx="310896" cy="310896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31336" y="32461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WORKSPACE INDEX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044184" y="3108960"/>
            <a:ext cx="2542032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3273552"/>
            <a:ext cx="310896" cy="310896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01968" y="32461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PROJECT CONTRACT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8814816" y="3108960"/>
            <a:ext cx="2542032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42832" y="3273552"/>
            <a:ext cx="310896" cy="310896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42832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372600" y="32461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DEPLOY SCRIPT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502920" y="4050792"/>
            <a:ext cx="2542032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" y="4215384"/>
            <a:ext cx="310896" cy="310896"/>
          </a:xfrm>
          <a:prstGeom prst="ellipse">
            <a:avLst/>
          </a:prstGeom>
          <a:solidFill>
            <a:srgbClr val="996633"/>
          </a:solidFill>
          <a:ln w="12700">
            <a:solidFill>
              <a:srgbClr val="9966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60704" y="41879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SERVICE PATTERN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3273552" y="4050792"/>
            <a:ext cx="2542032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01568" y="4215384"/>
            <a:ext cx="310896" cy="310896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01568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31336" y="41879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CATALOG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6044184" y="4050792"/>
            <a:ext cx="2542032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4215384"/>
            <a:ext cx="310896" cy="310896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01968" y="41879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 DEFAULTS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8814816" y="4050792"/>
            <a:ext cx="2542032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42832" y="4215384"/>
            <a:ext cx="310896" cy="310896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42832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372600" y="41879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REPORT + PROOF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502920" y="5285232"/>
            <a:ext cx="0" cy="402336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" y="5285232"/>
            <a:ext cx="11009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Conditional by design: no backend pattern for a static site; no design system forced onto a pure API.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BLUEPRINT.md + skills/full-stack-bootstrap/SKILL.md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 07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Taste becomes executable when reasons become constraints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why → rules → enforcement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FF63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25880"/>
            <a:ext cx="90525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35608"/>
            <a:ext cx="347472" cy="347472"/>
          </a:xfrm>
          <a:prstGeom prst="ellipse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" y="143560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LINEAGE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2468880" y="1417320"/>
            <a:ext cx="6967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Rams · Vignelli · Tufte · Swiss — pick a real ancestor, not “clean &amp; modern”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1024128" y="2139696"/>
            <a:ext cx="81381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2249424"/>
            <a:ext cx="347472" cy="347472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9344" y="224942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PSYCHOLOGY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2926080" y="2231136"/>
            <a:ext cx="6053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affordance · signifier · feedback · anchoring · defaults · disclosure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1481328" y="2953512"/>
            <a:ext cx="72237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3063240"/>
            <a:ext cx="347472" cy="347472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66544" y="306324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CONSTRAINT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383280" y="3044952"/>
            <a:ext cx="513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 type sizes · closed fonts · one absolute geometry rule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1938528" y="3767328"/>
            <a:ext cx="63093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3877056"/>
            <a:ext cx="347472" cy="347472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23744" y="387705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TOKEN ROLES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3840480" y="3858768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token → one job → no semantic bleed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2395728" y="4581144"/>
            <a:ext cx="5394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4690872"/>
            <a:ext cx="347472" cy="347472"/>
          </a:xfrm>
          <a:prstGeom prst="ellipse">
            <a:avLst/>
          </a:prstGeom>
          <a:solidFill>
            <a:srgbClr val="EE352E"/>
          </a:solidFill>
          <a:ln w="12700">
            <a:solidFill>
              <a:srgbClr val="EE35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80944" y="469087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NAMED REGRESSIONS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4297680" y="4672584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“if you see X, that is a regression” → grep-able taste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9902952" y="1325880"/>
            <a:ext cx="1737360" cy="3822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04120" y="15544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TEST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10104120" y="1956816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Would this fit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lineage?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104120" y="2807208"/>
            <a:ext cx="1280160" cy="0"/>
          </a:xfrm>
          <a:prstGeom prst="line">
            <a:avLst/>
          </a:prstGeom>
          <a:noFill/>
          <a:ln w="12700">
            <a:solidFill>
              <a:srgbClr val="1917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04120" y="3017520"/>
            <a:ext cx="13350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Can a new agent</a:t>
            </a:r>
            <a:endParaRPr lang="en-US" sz="10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make the same</a:t>
            </a:r>
            <a:endParaRPr lang="en-US" sz="10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decision without you?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10104120" y="4334256"/>
            <a:ext cx="1298448" cy="438912"/>
          </a:xfrm>
          <a:prstGeom prst="rect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04120" y="433425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AF9F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YES → SHIP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408176" y="5669280"/>
            <a:ext cx="0" cy="347472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17904" y="5669280"/>
            <a:ext cx="7251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Constraint is a speed technique: it turns repeated design debates into lookups.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Sources: skills/axiom-design-core/SKILL.md + skills/design-dna/SKILL.md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 08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Color has grammar, not mood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enclosed = identity · bare = data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FF63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527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TWO COLOR SYSTEMS — NEVER BLUR THEM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5376672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956816"/>
            <a:ext cx="530352" cy="530352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18562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1579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Always enclosed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27248" y="1901952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Which family / board am I in?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27248" y="2249424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disc · station plate · fixed route color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45352" y="1572768"/>
            <a:ext cx="5376672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184708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6E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+14.8%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21040" y="18562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SIGNAL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15798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Always bare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528048" y="1901952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 the value good / bad / live?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9528048" y="2249424"/>
            <a:ext cx="1792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green / red only because the data changed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02920" y="37307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SHOULD THIS BE COLORED?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502920" y="4041648"/>
            <a:ext cx="2523744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041648"/>
            <a:ext cx="1143000" cy="228600"/>
          </a:xfrm>
          <a:prstGeom prst="rect">
            <a:avLst/>
          </a:prstGeom>
          <a:solidFill>
            <a:srgbClr val="1F6E43"/>
          </a:solidFill>
          <a:ln w="12700">
            <a:solidFill>
              <a:srgbClr val="1F6E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4041648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DATA?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67512" y="45994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bare green / red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44952" y="4617720"/>
            <a:ext cx="219456" cy="0"/>
          </a:xfrm>
          <a:prstGeom prst="line">
            <a:avLst/>
          </a:prstGeom>
          <a:noFill/>
          <a:ln w="10160">
            <a:solidFill>
              <a:srgbClr val="A9A59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282696" y="4041648"/>
            <a:ext cx="2523744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82696" y="4041648"/>
            <a:ext cx="1143000" cy="228600"/>
          </a:xfrm>
          <a:prstGeom prst="rect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4041648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IDENTITY?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47288" y="45994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enclose in route disc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24728" y="4617720"/>
            <a:ext cx="219456" cy="0"/>
          </a:xfrm>
          <a:prstGeom prst="line">
            <a:avLst/>
          </a:prstGeom>
          <a:noFill/>
          <a:ln w="10160">
            <a:solidFill>
              <a:srgbClr val="A9A59A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062472" y="4041648"/>
            <a:ext cx="2523744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62472" y="4041648"/>
            <a:ext cx="1143000" cy="228600"/>
          </a:xfrm>
          <a:prstGeom prst="rect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35624" y="4041648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DIRECTION?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227064" y="45994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greyscale triangle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604504" y="4617720"/>
            <a:ext cx="219456" cy="0"/>
          </a:xfrm>
          <a:prstGeom prst="line">
            <a:avLst/>
          </a:prstGeom>
          <a:noFill/>
          <a:ln w="10160">
            <a:solidFill>
              <a:srgbClr val="A9A59A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842248" y="4041648"/>
            <a:ext cx="2523744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42248" y="4041648"/>
            <a:ext cx="1143000" cy="228600"/>
          </a:xfrm>
          <a:prstGeom prst="rect">
            <a:avLst/>
          </a:prstGeom>
          <a:solidFill>
            <a:srgbClr val="A9A59A"/>
          </a:solidFill>
          <a:ln w="12700">
            <a:solidFill>
              <a:srgbClr val="A9A5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15400" y="4041648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NONE?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9006840" y="45994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color — use grey + size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5696712"/>
            <a:ext cx="0" cy="347472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5696712"/>
            <a:ext cx="6016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Color only at the point of decision. Never before. Never after.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Rams × NYCTA manual — route palette, enclosure rule, decision tree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09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Catalogue once. Port the known-good adapter forever.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shared layer belongs to no single project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6D6E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REUSE FLOW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2029968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2029968" cy="228600"/>
          </a:xfrm>
          <a:prstGeom prst="rect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60020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_SHARED / DATA-CATALOG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04088" y="2093976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CATALOG.md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" y="243230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 detail files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2724912"/>
            <a:ext cx="16093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observed latency</a:t>
            </a:r>
            <a:endParaRPr lang="en-US" sz="8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rate limits</a:t>
            </a:r>
            <a:endParaRPr lang="en-US" sz="8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quirks</a:t>
            </a:r>
            <a:endParaRPr lang="en-US" sz="8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reference adapter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2651760" y="2542032"/>
            <a:ext cx="603504" cy="0"/>
          </a:xfrm>
          <a:prstGeom prst="line">
            <a:avLst/>
          </a:prstGeom>
          <a:noFill/>
          <a:ln w="12700">
            <a:solidFill>
              <a:srgbClr val="6F6C6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37560" y="1600200"/>
            <a:ext cx="1938528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600200"/>
            <a:ext cx="1938528" cy="228600"/>
          </a:xfrm>
          <a:prstGeom prst="rect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160020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KNOWN-GOOD ADAPTER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575304" y="21945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copy the pattern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75304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not a fresh reinvention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5394960" y="2542032"/>
            <a:ext cx="594360" cy="0"/>
          </a:xfrm>
          <a:prstGeom prst="line">
            <a:avLst/>
          </a:prstGeom>
          <a:noFill/>
          <a:ln w="12700">
            <a:solidFill>
              <a:srgbClr val="6F6C6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26480" y="1600200"/>
            <a:ext cx="1481328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1920240"/>
            <a:ext cx="438912" cy="438912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36208" y="255117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FLOOD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236208" y="288950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same backbone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7863840" y="1600200"/>
            <a:ext cx="1481328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9328" y="1920240"/>
            <a:ext cx="438912" cy="438912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73568" y="255117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AIR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7973568" y="288950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same backbone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9601200" y="1600200"/>
            <a:ext cx="1481328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76688" y="1920240"/>
            <a:ext cx="438912" cy="438912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76688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10928" y="255117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TRANSIT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9710928" y="288950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same backbone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502920" y="38862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FRESHNESS IS EXPLICIT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502920" y="4206240"/>
            <a:ext cx="2542032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4297680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621792" y="4517136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6E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minutes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273552" y="4206240"/>
            <a:ext cx="2542032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92424" y="4297680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 → CACHE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3392424" y="4517136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39A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last-good + age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44184" y="4206240"/>
            <a:ext cx="2542032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63056" y="4297680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REFERENCE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163056" y="4517136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6D6E7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daily / weekly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814816" y="4206240"/>
            <a:ext cx="2542032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33688" y="4297680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DATABASE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8933688" y="4517136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local query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02920" y="5650992"/>
            <a:ext cx="0" cy="365760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" y="5650992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Trustworthy stale data says “47 minutes old.” Silent staleness is a liability.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skills/data-catalog/SKILL.md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SHIP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Localhost is never a deliverable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done = live URL + command-level proof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0085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CPDT LOOP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94360" y="1874520"/>
            <a:ext cx="640080" cy="640080"/>
          </a:xfrm>
          <a:prstGeom prst="ellipse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" y="2679192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COMMIT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144" y="2980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sentence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353312" y="2194560"/>
            <a:ext cx="1627632" cy="0"/>
          </a:xfrm>
          <a:prstGeom prst="line">
            <a:avLst/>
          </a:prstGeom>
          <a:noFill/>
          <a:ln w="17780">
            <a:solidFill>
              <a:srgbClr val="D2CFC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55848" y="1874520"/>
            <a:ext cx="640080" cy="640080"/>
          </a:xfrm>
          <a:prstGeom prst="ellipse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099816" y="2679192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PUSH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2770632" y="2980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origin/main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114800" y="2194560"/>
            <a:ext cx="1627632" cy="0"/>
          </a:xfrm>
          <a:prstGeom prst="line">
            <a:avLst/>
          </a:prstGeom>
          <a:noFill/>
          <a:ln w="17780">
            <a:solidFill>
              <a:srgbClr val="D2CFC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17336" y="1874520"/>
            <a:ext cx="640080" cy="640080"/>
          </a:xfrm>
          <a:prstGeom prst="ellipse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1733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861304" y="2679192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DEPLOY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532120" y="2980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scripted command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876288" y="2194560"/>
            <a:ext cx="1627632" cy="0"/>
          </a:xfrm>
          <a:prstGeom prst="line">
            <a:avLst/>
          </a:prstGeom>
          <a:noFill/>
          <a:ln w="17780">
            <a:solidFill>
              <a:srgbClr val="D2CFC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78824" y="1874520"/>
            <a:ext cx="640080" cy="640080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7882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622792" y="2679192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TEST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293608" y="2980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curl the live URL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363456" y="3447288"/>
            <a:ext cx="-7114032" cy="0"/>
          </a:xfrm>
          <a:prstGeom prst="line">
            <a:avLst/>
          </a:prstGeom>
          <a:noFill/>
          <a:ln w="13970">
            <a:solidFill>
              <a:srgbClr val="A23A26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 rot="10800000">
            <a:off x="2148840" y="3383280"/>
            <a:ext cx="146304" cy="128016"/>
          </a:xfrm>
          <a:prstGeom prst="triangle">
            <a:avLst/>
          </a:prstGeom>
          <a:solidFill>
            <a:srgbClr val="A23A26"/>
          </a:solidFill>
          <a:ln w="12700">
            <a:solidFill>
              <a:srgbClr val="A23A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255264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FAIL → FIX → REPEAT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566928" y="4005072"/>
            <a:ext cx="4983480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005072"/>
            <a:ext cx="1389888" cy="228600"/>
          </a:xfrm>
          <a:prstGeom prst="rect">
            <a:avLst/>
          </a:prstGeom>
          <a:solidFill>
            <a:srgbClr val="A23A26"/>
          </a:solidFill>
          <a:ln w="12700">
            <a:solidFill>
              <a:srgbClr val="A23A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005072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NOT ENOUGH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22960" y="45537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7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npm test 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86000" y="455371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proves code; not delivery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15584" y="4005072"/>
            <a:ext cx="5815584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15584" y="4005072"/>
            <a:ext cx="1389888" cy="228600"/>
          </a:xfrm>
          <a:prstGeom prst="rect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8736" y="4005072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ACTUALLY DONE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108192" y="4498848"/>
            <a:ext cx="51389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F6E4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curl https://live… | grep NEW_THING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6108192" y="4855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bytes reached a human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42432"/>
            <a:ext cx="0" cy="347472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" y="574243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Tests prove correctness. T proves existence.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skills/ship-discipline/SKILL.md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SHIP 11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deploy is not an upload. It is a human receiving new bytes.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CDN verification must not poison the key it is trying to test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0085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4358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NAIVE VERIFICATION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1536192"/>
            <a:ext cx="5413248" cy="4169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847088"/>
            <a:ext cx="310896" cy="310896"/>
          </a:xfrm>
          <a:prstGeom prst="ellipse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18470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UPLOAD v1.2.1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41832" y="2157984"/>
            <a:ext cx="0" cy="347472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2505456"/>
            <a:ext cx="310896" cy="310896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0160" y="25054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NEW HTML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41832" y="2816352"/>
            <a:ext cx="0" cy="347472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3163824"/>
            <a:ext cx="310896" cy="310896"/>
          </a:xfrm>
          <a:prstGeom prst="ellipse">
            <a:avLst/>
          </a:prstGeom>
          <a:solidFill>
            <a:srgbClr val="A23A26"/>
          </a:solidFill>
          <a:ln w="12700">
            <a:solidFill>
              <a:srgbClr val="A23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31638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STALE JS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941832" y="3474720"/>
            <a:ext cx="0" cy="347472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3822192"/>
            <a:ext cx="310896" cy="310896"/>
          </a:xfrm>
          <a:prstGeom prst="ellipse">
            <a:avLst/>
          </a:prstGeom>
          <a:solidFill>
            <a:srgbClr val="A23A26"/>
          </a:solidFill>
          <a:ln w="12700">
            <a:solidFill>
              <a:srgbClr val="A23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80160" y="3822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 KEY POISONED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941832" y="4133088"/>
            <a:ext cx="0" cy="347472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" y="4480560"/>
            <a:ext cx="310896" cy="310896"/>
          </a:xfrm>
          <a:prstGeom prst="ellipse">
            <a:avLst/>
          </a:prstGeom>
          <a:solidFill>
            <a:srgbClr val="A23A26"/>
          </a:solidFill>
          <a:ln w="12700">
            <a:solidFill>
              <a:srgbClr val="A23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4480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80160" y="4480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GETS OLD BYTES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3474720" y="4407408"/>
            <a:ext cx="1956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curling the real asset too early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can create the outage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36208" y="124358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1F6E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PROBE-FIRST VERIFICATION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236208" y="1536192"/>
            <a:ext cx="5404104" cy="4169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1847088"/>
            <a:ext cx="310896" cy="310896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22592" y="184708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CANONICAL ALIAS FIRST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693408" y="2157984"/>
            <a:ext cx="0" cy="347472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2505456"/>
            <a:ext cx="310896" cy="310896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22592" y="250545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THROWAWAY ?probe=N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6693408" y="2816352"/>
            <a:ext cx="0" cy="347472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3163824"/>
            <a:ext cx="310896" cy="310896"/>
          </a:xfrm>
          <a:prstGeom prst="ellipse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22592" y="316382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MD5 ACTUAL BYTES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6693408" y="3474720"/>
            <a:ext cx="0" cy="347472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37960" y="3822192"/>
            <a:ext cx="310896" cy="310896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22592" y="38221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F6E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REQUIRE 3 / 3 STREAK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693408" y="4133088"/>
            <a:ext cx="0" cy="347472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37960" y="4480560"/>
            <a:ext cx="310896" cy="310896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4480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22592" y="448056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F6E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TOUCH REAL KEY LAST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9473184" y="4480560"/>
            <a:ext cx="1645920" cy="457200"/>
          </a:xfrm>
          <a:prstGeom prst="rect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73184" y="4480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 / 3 MATCH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36208" y="5833872"/>
            <a:ext cx="0" cy="329184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45936" y="583387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green response is one edge node. A streak is evidence of convergence.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skills/deploy-verification/SKILL.md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INFRA 12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Prototype → dependable service, without turning into DevOps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static edge + tunnel + supervised local service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6D6E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527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REQUEST PATH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48640" y="1664208"/>
            <a:ext cx="1298448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64208"/>
            <a:ext cx="1298448" cy="228600"/>
          </a:xfrm>
          <a:prstGeom prst="rect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66420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58368" y="2185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browser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1847088" y="2167128"/>
            <a:ext cx="201168" cy="0"/>
          </a:xfrm>
          <a:prstGeom prst="line">
            <a:avLst/>
          </a:prstGeom>
          <a:noFill/>
          <a:ln w="10160">
            <a:solidFill>
              <a:srgbClr val="A9A59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39696" y="1664208"/>
            <a:ext cx="155448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39696" y="1664208"/>
            <a:ext cx="1554480" cy="228600"/>
          </a:xfrm>
          <a:prstGeom prst="rect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12848" y="1664208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PAGES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49424" y="2185416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static frontend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3694176" y="2167128"/>
            <a:ext cx="329184" cy="0"/>
          </a:xfrm>
          <a:prstGeom prst="line">
            <a:avLst/>
          </a:prstGeom>
          <a:noFill/>
          <a:ln w="10160">
            <a:solidFill>
              <a:srgbClr val="A9A59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114800" y="1664208"/>
            <a:ext cx="155448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1664208"/>
            <a:ext cx="1554480" cy="228600"/>
          </a:xfrm>
          <a:prstGeom prst="rect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1664208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FUNCTION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224528" y="2185416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/api/* proxy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5669280" y="2167128"/>
            <a:ext cx="329184" cy="0"/>
          </a:xfrm>
          <a:prstGeom prst="line">
            <a:avLst/>
          </a:prstGeom>
          <a:noFill/>
          <a:ln w="10160">
            <a:solidFill>
              <a:srgbClr val="A9A59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89904" y="1664208"/>
            <a:ext cx="1572768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9904" y="1664208"/>
            <a:ext cx="1572768" cy="228600"/>
          </a:xfrm>
          <a:prstGeom prst="rect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16642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TUNNEL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99632" y="218541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named config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7662672" y="2167128"/>
            <a:ext cx="329184" cy="0"/>
          </a:xfrm>
          <a:prstGeom prst="line">
            <a:avLst/>
          </a:prstGeom>
          <a:noFill/>
          <a:ln w="10160">
            <a:solidFill>
              <a:srgbClr val="A9A59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83296" y="1664208"/>
            <a:ext cx="1572768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3296" y="1664208"/>
            <a:ext cx="1572768" cy="228600"/>
          </a:xfrm>
          <a:prstGeom prst="rect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56448" y="16642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SERVICE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193024" y="218541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localhost:PORT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9656064" y="2167128"/>
            <a:ext cx="338328" cy="0"/>
          </a:xfrm>
          <a:prstGeom prst="line">
            <a:avLst/>
          </a:prstGeom>
          <a:noFill/>
          <a:ln w="10160">
            <a:solidFill>
              <a:srgbClr val="A9A59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085832" y="1664208"/>
            <a:ext cx="1444752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85832" y="1664208"/>
            <a:ext cx="1444752" cy="228600"/>
          </a:xfrm>
          <a:prstGeom prst="rect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58984" y="166420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SQLITE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195560" y="218541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WAL mode</a:t>
            </a:r>
            <a:endParaRPr lang="en-US" sz="910" dirty="0"/>
          </a:p>
        </p:txBody>
      </p:sp>
      <p:sp>
        <p:nvSpPr>
          <p:cNvPr id="38" name="Text 36"/>
          <p:cNvSpPr/>
          <p:nvPr/>
        </p:nvSpPr>
        <p:spPr>
          <a:xfrm>
            <a:off x="502920" y="32004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SERVICE = FOUR SMALL JOBS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502920" y="3511296"/>
            <a:ext cx="2542032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360273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SERVER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621792" y="3822192"/>
            <a:ext cx="2304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853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KeepAlive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273552" y="3511296"/>
            <a:ext cx="2542032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92424" y="360273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TUNNEL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3392424" y="3822192"/>
            <a:ext cx="2304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631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own --config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044184" y="3511296"/>
            <a:ext cx="2542032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63056" y="360273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WATCHDOG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6163056" y="3822192"/>
            <a:ext cx="2304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E352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health → restart → escalate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814816" y="3511296"/>
            <a:ext cx="2542032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33688" y="360273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BACKUP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8933688" y="3822192"/>
            <a:ext cx="2304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39A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nightly + independent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02920" y="4919472"/>
            <a:ext cx="11119104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" y="4919472"/>
            <a:ext cx="1865376" cy="228600"/>
          </a:xfrm>
          <a:prstGeom prst="rect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" y="491947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HEALTH CONTRACT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578608" y="5047488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1917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/api/health → status · timestamp · last successful ingest per source</a:t>
            </a:r>
            <a:endParaRPr lang="en-US" sz="970" dirty="0"/>
          </a:p>
        </p:txBody>
      </p:sp>
      <p:sp>
        <p:nvSpPr>
          <p:cNvPr id="55" name="Text 53"/>
          <p:cNvSpPr/>
          <p:nvPr/>
        </p:nvSpPr>
        <p:spPr>
          <a:xfrm>
            <a:off x="2578608" y="5349240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If it cannot answer this in one line, it is a script — not a service.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502920" y="5916168"/>
            <a:ext cx="0" cy="329184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648" y="591616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Take risk with the code. Never with the recovery path.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skills/always-on-services/SKILL.md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B933AD"/>
          </a:solidFill>
          <a:ln w="12700">
            <a:solidFill>
              <a:srgbClr val="B93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RISK 13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Move fast where mistakes are cheap to undo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ceremony only where the blast radius demands it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B933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435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ASYMMETRY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534924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54480"/>
            <a:ext cx="1783080" cy="228600"/>
          </a:xfrm>
          <a:prstGeom prst="rect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554480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CHEAP TO UNDO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95528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6E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MOVE FAST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07792" y="196596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small commits · flags · mock fallback</a:t>
            </a:r>
            <a:endParaRPr lang="en-US" sz="9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last-good cache · watchdogs · backups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291072" y="1554480"/>
            <a:ext cx="5340096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1554480"/>
            <a:ext cx="2011680" cy="228600"/>
          </a:xfrm>
          <a:prstGeom prst="rect">
            <a:avLst/>
          </a:prstGeom>
          <a:solidFill>
            <a:srgbClr val="A23A26"/>
          </a:solidFill>
          <a:ln w="12700">
            <a:solidFill>
              <a:srgbClr val="A23A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55448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EXPENSIVE TO UNDO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583680" y="20848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ADD CEREMONY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71432" y="196596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anything that shouts at people</a:t>
            </a:r>
            <a:endParaRPr lang="en-US" sz="9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holds personal data · cannot be restored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02920" y="35935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FOUR HARD LINES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2542032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" y="4069080"/>
            <a:ext cx="329184" cy="329184"/>
          </a:xfrm>
          <a:prstGeom prst="ellipse">
            <a:avLst/>
          </a:prstGeom>
          <a:solidFill>
            <a:srgbClr val="EE352E"/>
          </a:solidFill>
          <a:ln w="12700">
            <a:solidFill>
              <a:srgbClr val="EE35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" y="4023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LIFE-SAFETY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630936" y="4489704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hold-to-confirm · auto-expire · corroborate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3273552" y="3886200"/>
            <a:ext cx="2542032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01568" y="4069080"/>
            <a:ext cx="329184" cy="329184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9624" y="4023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AGGREGATE ONLY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3401568" y="4489704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never individual data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6044184" y="3886200"/>
            <a:ext cx="2542032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4069080"/>
            <a:ext cx="329184" cy="329184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0256" y="4023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HONEST LABELS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6172200" y="4489704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DEMO · PROTOTYPE · model, not forecast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8814816" y="3886200"/>
            <a:ext cx="2542032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42832" y="4069080"/>
            <a:ext cx="329184" cy="329184"/>
          </a:xfrm>
          <a:prstGeom prst="ellipse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42832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90888" y="4023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SECRETS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8942832" y="4489704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never repo · note · prompt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502920" y="5724144"/>
            <a:ext cx="0" cy="347472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" y="5724144"/>
            <a:ext cx="5468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Dominant solo risk: building something nobody wanted, slowly.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skills/risk-posture/SKILL.md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PARALLEL 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Several agents, one repo, no merge hell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isolate generation; centralise judgement and shipping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0039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52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ISOLATION PRIMITIVE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304288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54480"/>
            <a:ext cx="2304288" cy="228600"/>
          </a:xfrm>
          <a:prstGeom prst="rect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55448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.GIT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80744" y="19476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7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55064" y="2194560"/>
            <a:ext cx="0" cy="402336"/>
          </a:xfrm>
          <a:prstGeom prst="line">
            <a:avLst/>
          </a:prstGeom>
          <a:noFill/>
          <a:ln w="13970">
            <a:solidFill>
              <a:srgbClr val="6F6C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" y="2596896"/>
            <a:ext cx="1609344" cy="0"/>
          </a:xfrm>
          <a:prstGeom prst="line">
            <a:avLst/>
          </a:prstGeom>
          <a:noFill/>
          <a:ln w="13970">
            <a:solidFill>
              <a:srgbClr val="6F6C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596896"/>
            <a:ext cx="0" cy="393192"/>
          </a:xfrm>
          <a:prstGeom prst="line">
            <a:avLst/>
          </a:prstGeom>
          <a:noFill/>
          <a:ln w="12700">
            <a:solidFill>
              <a:srgbClr val="6F6C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" y="2990088"/>
            <a:ext cx="62179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02666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917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5216" y="32735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security</a:t>
            </a:r>
            <a:endParaRPr lang="en-US" sz="660" dirty="0"/>
          </a:p>
        </p:txBody>
      </p:sp>
      <p:sp>
        <p:nvSpPr>
          <p:cNvPr id="19" name="Shape 17"/>
          <p:cNvSpPr/>
          <p:nvPr/>
        </p:nvSpPr>
        <p:spPr>
          <a:xfrm>
            <a:off x="1636776" y="2596896"/>
            <a:ext cx="0" cy="393192"/>
          </a:xfrm>
          <a:prstGeom prst="line">
            <a:avLst/>
          </a:prstGeom>
          <a:noFill/>
          <a:ln w="12700">
            <a:solidFill>
              <a:srgbClr val="6F6C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5880" y="2990088"/>
            <a:ext cx="62179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302666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917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UX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298448" y="32735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review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2350008" y="2596896"/>
            <a:ext cx="0" cy="393192"/>
          </a:xfrm>
          <a:prstGeom prst="line">
            <a:avLst/>
          </a:prstGeom>
          <a:noFill/>
          <a:ln w="12700">
            <a:solidFill>
              <a:srgbClr val="6F6C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39112" y="2990088"/>
            <a:ext cx="62179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39112" y="302666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917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SRCH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011680" y="32735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search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749808" y="397764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F6C6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.claude/worktrees/*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36392" y="12527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GOOD PARALLELISM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3136392" y="1554480"/>
            <a:ext cx="1847088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55264" y="164592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01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3255264" y="186537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6E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independent review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157216" y="1554480"/>
            <a:ext cx="1847088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76088" y="164592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02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276088" y="186537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6E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fan-out search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136392" y="2468880"/>
            <a:ext cx="1847088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55264" y="256032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03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3255264" y="277977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6E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option exploration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157216" y="2468880"/>
            <a:ext cx="1847088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76088" y="256032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04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276088" y="277977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6E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mechanical sweep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296912" y="12527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 NOT PARALLELISE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7296912" y="1554480"/>
            <a:ext cx="1847088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15784" y="164592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×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7415784" y="186537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shared files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317736" y="1554480"/>
            <a:ext cx="1847088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36608" y="164592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×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9436608" y="186537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sequential judgement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296912" y="2468880"/>
            <a:ext cx="1847088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15784" y="256032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×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7415784" y="277977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 ownership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9317736" y="2468880"/>
            <a:ext cx="1847088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36608" y="256032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×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9436608" y="277977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deploys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136392" y="3840480"/>
            <a:ext cx="8202168" cy="1161288"/>
          </a:xfrm>
          <a:prstGeom prst="rect">
            <a:avLst/>
          </a:prstGeom>
          <a:solidFill>
            <a:srgbClr val="FFFFFF"/>
          </a:solidFill>
          <a:ln w="16510">
            <a:solidFill>
              <a:srgbClr val="FF631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36392" y="3840480"/>
            <a:ext cx="1664208" cy="228600"/>
          </a:xfrm>
          <a:prstGeom prst="rect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9544" y="3840480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UNIFY PASS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364992" y="43799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read union of diffs  →  collapse duplicates  →  unify naming/errors  →  design audit  →  ONE deploy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3136392" y="5394960"/>
            <a:ext cx="0" cy="438912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46120" y="5394960"/>
            <a:ext cx="8028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Verification scales worse than generation. Ten agents can make ten changes faster than you can safely verify two.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playbooks/04-multi-agent-and-worktrees.md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MAP 15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Two kinds of 3D city — keep them separate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deep twin for exploration · native extrusion for operations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0039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89888"/>
            <a:ext cx="5376672" cy="4096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89888"/>
            <a:ext cx="1627632" cy="228600"/>
          </a:xfrm>
          <a:prstGeom prst="rect">
            <a:avLst/>
          </a:prstGeom>
          <a:solidFill>
            <a:srgbClr val="996633"/>
          </a:solidFill>
          <a:ln w="12700">
            <a:solidFill>
              <a:srgbClr val="9966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3898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TIER 1 · DEEP TWIN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68096" y="18836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ARNIS → MINECRAFT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" y="227685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walk-through · storytelling · offline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" y="2862072"/>
            <a:ext cx="438912" cy="182880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2862072"/>
            <a:ext cx="438912" cy="310896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9968" y="2862072"/>
            <a:ext cx="438912" cy="438912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4328" y="2862072"/>
            <a:ext cx="438912" cy="182880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2862072"/>
            <a:ext cx="438912" cy="310896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2697480"/>
            <a:ext cx="438912" cy="310896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35608" y="2697480"/>
            <a:ext cx="438912" cy="438912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29968" y="2697480"/>
            <a:ext cx="438912" cy="182880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4328" y="2697480"/>
            <a:ext cx="438912" cy="310896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2697480"/>
            <a:ext cx="438912" cy="438912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532888"/>
            <a:ext cx="438912" cy="438912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35608" y="2532888"/>
            <a:ext cx="438912" cy="182880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29968" y="2532888"/>
            <a:ext cx="438912" cy="310896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4328" y="2532888"/>
            <a:ext cx="438912" cy="438912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18688" y="2532888"/>
            <a:ext cx="438912" cy="182880"/>
          </a:xfrm>
          <a:prstGeom prst="rect">
            <a:avLst/>
          </a:prstGeom>
          <a:solidFill>
            <a:srgbClr val="D8D4CA"/>
          </a:solidFill>
          <a:ln w="3810">
            <a:solidFill>
              <a:srgbClr val="FAF9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3931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OSM + Overture → playable world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" y="43068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manifest keeps bounds + regen coordinates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6263640" y="1389888"/>
            <a:ext cx="5376672" cy="4096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1389888"/>
            <a:ext cx="1755648" cy="228600"/>
          </a:xfrm>
          <a:prstGeom prst="rect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138988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TIER 2 · LIVE WEB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19672" y="188366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MAPLIBRE NATIVE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519672" y="2276856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fill-extrusion · one depth buffer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20840" y="4005072"/>
            <a:ext cx="4251960" cy="0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84848" y="3346704"/>
            <a:ext cx="393192" cy="658368"/>
          </a:xfrm>
          <a:prstGeom prst="rect">
            <a:avLst/>
          </a:prstGeom>
          <a:solidFill>
            <a:srgbClr val="BDB9AD"/>
          </a:solidFill>
          <a:ln w="2540">
            <a:solidFill>
              <a:srgbClr val="FAF9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2907792"/>
            <a:ext cx="393192" cy="1097280"/>
          </a:xfrm>
          <a:prstGeom prst="rect">
            <a:avLst/>
          </a:prstGeom>
          <a:solidFill>
            <a:srgbClr val="BDB9AD"/>
          </a:solidFill>
          <a:ln w="2540">
            <a:solidFill>
              <a:srgbClr val="FAF9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45552" y="3566160"/>
            <a:ext cx="393192" cy="438912"/>
          </a:xfrm>
          <a:prstGeom prst="rect">
            <a:avLst/>
          </a:prstGeom>
          <a:solidFill>
            <a:srgbClr val="BDB9AD"/>
          </a:solidFill>
          <a:ln w="2540">
            <a:solidFill>
              <a:srgbClr val="FAF9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75904" y="2596896"/>
            <a:ext cx="393192" cy="1408176"/>
          </a:xfrm>
          <a:prstGeom prst="rect">
            <a:avLst/>
          </a:prstGeom>
          <a:solidFill>
            <a:srgbClr val="8F8B80"/>
          </a:solidFill>
          <a:ln w="2540">
            <a:solidFill>
              <a:srgbClr val="FAF9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06256" y="3163824"/>
            <a:ext cx="393192" cy="841248"/>
          </a:xfrm>
          <a:prstGeom prst="rect">
            <a:avLst/>
          </a:prstGeom>
          <a:solidFill>
            <a:srgbClr val="BDB9AD"/>
          </a:solidFill>
          <a:ln w="2540">
            <a:solidFill>
              <a:srgbClr val="FAF9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36608" y="2788920"/>
            <a:ext cx="393192" cy="1216152"/>
          </a:xfrm>
          <a:prstGeom prst="rect">
            <a:avLst/>
          </a:prstGeom>
          <a:solidFill>
            <a:srgbClr val="BDB9AD"/>
          </a:solidFill>
          <a:ln w="2540">
            <a:solidFill>
              <a:srgbClr val="FAF9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66960" y="3438144"/>
            <a:ext cx="393192" cy="566928"/>
          </a:xfrm>
          <a:prstGeom prst="rect">
            <a:avLst/>
          </a:prstGeom>
          <a:solidFill>
            <a:srgbClr val="BDB9AD"/>
          </a:solidFill>
          <a:ln w="2540">
            <a:solidFill>
              <a:srgbClr val="FAF9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9672" y="43251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&lt; 15k buildings → GeoJSON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8787384" y="43251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100k+ → PMTiles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6519672" y="4736592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Never deck.gl as a second 3D canvas over the map.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502920" y="5760720"/>
            <a:ext cx="0" cy="347472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" y="5760720"/>
            <a:ext cx="10268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depth buffer. No procedural filler. Always test the 2D fallback on a real phone.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skills/map-3d-city/SKILL.md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MAINTENANCE 16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Clean a crowded workspace without deleting a live system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map liveness first · two gates · never force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6D6E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89888"/>
            <a:ext cx="2130552" cy="4224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89888"/>
            <a:ext cx="2130552" cy="228600"/>
          </a:xfrm>
          <a:prstGeom prst="rect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389888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RULE 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8952" y="1947672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MAP WHAT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 ALIVE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8952" y="2907792"/>
            <a:ext cx="1618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processes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launchd plists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production paths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" y="3941064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commit age lies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24912" y="3374136"/>
            <a:ext cx="475488" cy="0"/>
          </a:xfrm>
          <a:prstGeom prst="line">
            <a:avLst/>
          </a:prstGeom>
          <a:noFill/>
          <a:ln w="12700">
            <a:solidFill>
              <a:srgbClr val="6F6C6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10128" y="1389888"/>
            <a:ext cx="3310128" cy="4224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1389888"/>
            <a:ext cx="3310128" cy="228600"/>
          </a:xfrm>
          <a:prstGeom prst="rect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389888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GATE A · UNIQUE?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712464" y="2093976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HEAD on a remote branch?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66744" y="2770632"/>
            <a:ext cx="258775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66744" y="2770632"/>
            <a:ext cx="2587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 →  KEEP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66744" y="3730752"/>
            <a:ext cx="258775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6744" y="3730752"/>
            <a:ext cx="2587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6E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YES → GATE 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3374136"/>
            <a:ext cx="502920" cy="0"/>
          </a:xfrm>
          <a:prstGeom prst="line">
            <a:avLst/>
          </a:prstGeom>
          <a:noFill/>
          <a:ln w="12700">
            <a:solidFill>
              <a:srgbClr val="6F6C6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33488" y="1389888"/>
            <a:ext cx="4297680" cy="4224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3488" y="1389888"/>
            <a:ext cx="4297680" cy="228600"/>
          </a:xfrm>
          <a:prstGeom prst="rect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138988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GATE B · DISPOSABLE PATH?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699248" y="2093976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inside a dedicated worktree container?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71816" y="2770632"/>
            <a:ext cx="164592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0688" y="286207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7790688" y="308152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treat as real project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28048" y="2770632"/>
            <a:ext cx="164592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E7E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286207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YES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9646920" y="308152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6E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git worktree remove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528048" y="3767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23A2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NO --force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99248" y="4224528"/>
            <a:ext cx="3438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let git refuse if there are uncommitted changes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3310128" y="5833872"/>
            <a:ext cx="0" cy="329184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9856" y="5833872"/>
            <a:ext cx="6336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After cleanup, rerun the liveness check. Same services in; same services out.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skills/workspace-lean/SKILL.md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B933AD"/>
          </a:solidFill>
          <a:ln w="12700">
            <a:solidFill>
              <a:srgbClr val="B93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READINESS 17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Sometimes the blocker is technology maturity, not effort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wait on readiness; kill only when the value case is dead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B933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527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TECHNOLOGY READINESS LEVEL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841248" y="2057400"/>
            <a:ext cx="10561320" cy="0"/>
          </a:xfrm>
          <a:prstGeom prst="line">
            <a:avLst/>
          </a:prstGeom>
          <a:noFill/>
          <a:ln w="25400">
            <a:solidFill>
              <a:srgbClr val="D2CF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847088"/>
            <a:ext cx="420624" cy="420624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957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concept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011680" y="1847088"/>
            <a:ext cx="420624" cy="420624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47088" y="23957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concept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3310128" y="1847088"/>
            <a:ext cx="420624" cy="420624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45536" y="23957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proof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4608576" y="1847088"/>
            <a:ext cx="420624" cy="420624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43984" y="23957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validate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5907024" y="1847088"/>
            <a:ext cx="420624" cy="420624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7024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42432" y="23957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validate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7205472" y="1847088"/>
            <a:ext cx="420624" cy="420624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23957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validate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503920" y="1847088"/>
            <a:ext cx="420624" cy="420624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39328" y="23957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operate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9802368" y="1847088"/>
            <a:ext cx="420624" cy="420624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02368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37776" y="23957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operate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11100816" y="1847088"/>
            <a:ext cx="420624" cy="420624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0816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36224" y="23957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operate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5715000" y="2816352"/>
            <a:ext cx="1783080" cy="228600"/>
          </a:xfrm>
          <a:prstGeom prst="rect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88152" y="2816352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TRL 6 BAR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662672" y="2816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safe to build something else on top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34930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YOU MAY BE TRL-BLOCKED IF…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502920" y="3813048"/>
            <a:ext cx="2542032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0142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E352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3×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307592" y="394106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“ONE MORE PATCH”</a:t>
            </a:r>
            <a:endParaRPr lang="en-US" sz="87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 same mechanism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3273552" y="3813048"/>
            <a:ext cx="2542032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10712" y="40142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631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↗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078224" y="394106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RESOURCE COST</a:t>
            </a:r>
            <a:endParaRPr lang="en-US" sz="87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scales the wrong way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6044184" y="3813048"/>
            <a:ext cx="2542032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81344" y="40142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D6E7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&lt;1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848856" y="394106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PRE-1.0</a:t>
            </a:r>
            <a:endParaRPr lang="en-US" sz="87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everywhere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8814816" y="3813048"/>
            <a:ext cx="2542032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51976" y="40142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A23A2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&gt;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9619488" y="394106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WORKAROUND &gt;</a:t>
            </a:r>
            <a:endParaRPr lang="en-US" sz="87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FEATURE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502920" y="5239512"/>
            <a:ext cx="11119104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523951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WAIT = document attempt  →  ship TRL-9 fallback  →  define a measurable revisit trigger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194560" y="5989320"/>
            <a:ext cx="0" cy="320040"/>
          </a:xfrm>
          <a:prstGeom prst="line">
            <a:avLst/>
          </a:prstGeom>
          <a:noFill/>
          <a:ln w="17780">
            <a:solidFill>
              <a:srgbClr val="1F6E4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04288" y="5989320"/>
            <a:ext cx="7708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F6C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good idea can be too early. A dead idea has no value. Those are different diagnoses.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skills/know-when-to-wait/SKILL.md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47472" cy="347472"/>
          </a:xfrm>
          <a:prstGeom prst="ellipse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∞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365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SYSTEM 18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96112" y="5120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Speed is a consequence of cheap mistakes + decisions made once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32520" y="438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compounding loop behind the whole practice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38912" y="941832"/>
            <a:ext cx="11292840" cy="0"/>
          </a:xfrm>
          <a:prstGeom prst="line">
            <a:avLst/>
          </a:prstGeom>
          <a:noFill/>
          <a:ln w="22860">
            <a:solidFill>
              <a:srgbClr val="1917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9624" y="2139696"/>
            <a:ext cx="4498848" cy="1234440"/>
          </a:xfrm>
          <a:prstGeom prst="rect">
            <a:avLst/>
          </a:prstGeom>
          <a:solidFill>
            <a:srgbClr val="191712"/>
          </a:solidFill>
          <a:ln w="12700">
            <a:solidFill>
              <a:srgbClr val="1917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96512" y="2331720"/>
            <a:ext cx="4005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AF9F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MOVE TASTE + MEMORY</a:t>
            </a:r>
            <a:endParaRPr lang="en-US" sz="2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AF9F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 OF YOUR HEAD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96512" y="2962656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D8D4C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 turn repeated decisions into lookups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" y="1298448"/>
            <a:ext cx="2706624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" y="1508760"/>
            <a:ext cx="384048" cy="384048"/>
          </a:xfrm>
          <a:prstGeom prst="ellipse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2728" y="146304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MEMORY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52728" y="1783080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context survives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887968" y="1298448"/>
            <a:ext cx="2706624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34272" y="1508760"/>
            <a:ext cx="384048" cy="384048"/>
          </a:xfrm>
          <a:prstGeom prst="ellipse">
            <a:avLst/>
          </a:prstGeom>
          <a:solidFill>
            <a:srgbClr val="FF6319"/>
          </a:solidFill>
          <a:ln w="12700">
            <a:solidFill>
              <a:srgbClr val="FF63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427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46336" y="146304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546336" y="1783080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taste survives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" y="4059936"/>
            <a:ext cx="2706624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" y="4270248"/>
            <a:ext cx="384048" cy="384048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52728" y="422452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CATALOG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52728" y="454456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integration survives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887968" y="4059936"/>
            <a:ext cx="2706624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34272" y="4270248"/>
            <a:ext cx="384048" cy="384048"/>
          </a:xfrm>
          <a:prstGeom prst="ellipse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34272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46336" y="422452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SHIP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546336" y="4544568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proof survives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89704" y="4764024"/>
            <a:ext cx="2706624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2CF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36008" y="4974336"/>
            <a:ext cx="384048" cy="384048"/>
          </a:xfrm>
          <a:prstGeom prst="ellipse">
            <a:avLst/>
          </a:prstGeom>
          <a:solidFill>
            <a:srgbClr val="B933AD"/>
          </a:solidFill>
          <a:ln w="12700">
            <a:solidFill>
              <a:srgbClr val="B933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8072" y="492861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RISK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48072" y="5248656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mistakes stay cheap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00984" y="1801368"/>
            <a:ext cx="749808" cy="749808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87968" y="1801368"/>
            <a:ext cx="-768096" cy="749808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00984" y="4562856"/>
            <a:ext cx="749808" cy="-896112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87968" y="4562856"/>
            <a:ext cx="-768096" cy="-896112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43016" y="4764024"/>
            <a:ext cx="0" cy="-1335024"/>
          </a:xfrm>
          <a:prstGeom prst="line">
            <a:avLst/>
          </a:prstGeom>
          <a:noFill/>
          <a:ln w="12700">
            <a:solidFill>
              <a:srgbClr val="D2CFC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" y="6016752"/>
            <a:ext cx="11000232" cy="365760"/>
          </a:xfrm>
          <a:prstGeom prst="rect">
            <a:avLst/>
          </a:prstGeom>
          <a:solidFill>
            <a:srgbClr val="FAF9F7"/>
          </a:solidFill>
          <a:ln w="12700">
            <a:solidFill>
              <a:srgbClr val="FAF9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5980176"/>
            <a:ext cx="11000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9171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BEST STACK IS THE ONE THAT SHIPS.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38912" y="6565392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30" kern="0" dirty="0">
                <a:solidFill>
                  <a:srgbClr val="A9A59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Synthesis: README.md + playbooks + skills. Visual language: Rams-NYCTA Design Core.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A9A59A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m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m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 Non's Vibecoding System</dc:title>
  <dc:subject>Dr Non's Vibecoding Skills — Visual Explainer</dc:subject>
  <dc:creator>OpenAI</dc:creator>
  <cp:lastModifiedBy>OpenAI</cp:lastModifiedBy>
  <cp:revision>1</cp:revision>
  <dcterms:created xsi:type="dcterms:W3CDTF">2026-08-25T11:03:36Z</dcterms:created>
  <dcterms:modified xsi:type="dcterms:W3CDTF">2026-08-25T11:03:36Z</dcterms:modified>
</cp:coreProperties>
</file>